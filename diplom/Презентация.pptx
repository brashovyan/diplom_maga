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311" r:id="rId4"/>
    <p:sldId id="312" r:id="rId5"/>
    <p:sldId id="313" r:id="rId6"/>
    <p:sldId id="314" r:id="rId7"/>
    <p:sldId id="315" r:id="rId8"/>
    <p:sldId id="316" r:id="rId9"/>
    <p:sldId id="317" r:id="rId10"/>
    <p:sldId id="310" r:id="rId11"/>
    <p:sldId id="318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629C"/>
    <a:srgbClr val="0DA18F"/>
    <a:srgbClr val="008755"/>
    <a:srgbClr val="00569D"/>
    <a:srgbClr val="ED6C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80" d="100"/>
          <a:sy n="80" d="100"/>
        </p:scale>
        <p:origin x="739" y="2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BE7A9-760A-4317-9297-F80EEAEE4B41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2FC975-8B91-4712-88B8-F5A12D6D94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1287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2FC975-8B91-4712-88B8-F5A12D6D94AC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6682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2FC975-8B91-4712-88B8-F5A12D6D94AC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7647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26F5-2F33-4666-8603-7278F65854EB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A4D9-1911-4BAB-8ACD-D55A977684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7655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26F5-2F33-4666-8603-7278F65854EB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A4D9-1911-4BAB-8ACD-D55A977684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0946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26F5-2F33-4666-8603-7278F65854EB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A4D9-1911-4BAB-8ACD-D55A977684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9970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26F5-2F33-4666-8603-7278F65854EB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A4D9-1911-4BAB-8ACD-D55A977684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6965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26F5-2F33-4666-8603-7278F65854EB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A4D9-1911-4BAB-8ACD-D55A977684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834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26F5-2F33-4666-8603-7278F65854EB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A4D9-1911-4BAB-8ACD-D55A977684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6994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26F5-2F33-4666-8603-7278F65854EB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A4D9-1911-4BAB-8ACD-D55A977684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0268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26F5-2F33-4666-8603-7278F65854EB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A4D9-1911-4BAB-8ACD-D55A977684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3339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26F5-2F33-4666-8603-7278F65854EB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A4D9-1911-4BAB-8ACD-D55A977684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6813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26F5-2F33-4666-8603-7278F65854EB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A4D9-1911-4BAB-8ACD-D55A977684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2593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26F5-2F33-4666-8603-7278F65854EB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A4D9-1911-4BAB-8ACD-D55A977684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0426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5826F5-2F33-4666-8603-7278F65854EB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AA4D9-1911-4BAB-8ACD-D55A977684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2198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366" y="183324"/>
            <a:ext cx="1666097" cy="1636009"/>
          </a:xfrm>
          <a:prstGeom prst="rect">
            <a:avLst/>
          </a:prstGeom>
        </p:spPr>
      </p:pic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95346" y="569952"/>
            <a:ext cx="9741436" cy="1082227"/>
          </a:xfrm>
        </p:spPr>
        <p:txBody>
          <a:bodyPr>
            <a:noAutofit/>
          </a:bodyPr>
          <a:lstStyle/>
          <a:p>
            <a:r>
              <a:rPr lang="ru-RU" sz="3600" b="1" dirty="0" smtClean="0">
                <a:solidFill>
                  <a:schemeClr val="accent1">
                    <a:lumMod val="50000"/>
                  </a:schemeClr>
                </a:solidFill>
              </a:rPr>
              <a:t>Инженерная школа цифровых технологий</a:t>
            </a:r>
            <a:endParaRPr lang="ru-RU" sz="3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0" y="1361797"/>
            <a:ext cx="9652959" cy="10822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0" b="1" dirty="0" smtClean="0">
                <a:solidFill>
                  <a:schemeClr val="accent1">
                    <a:lumMod val="50000"/>
                  </a:schemeClr>
                </a:solidFill>
              </a:rPr>
              <a:t>Тема ВКР</a:t>
            </a:r>
          </a:p>
          <a:p>
            <a:r>
              <a:rPr lang="ru-RU" sz="4000" b="1" dirty="0" smtClean="0">
                <a:solidFill>
                  <a:srgbClr val="0DA18F"/>
                </a:solidFill>
              </a:rPr>
              <a:t>Разработка программных средств для управления многоколёсным всенаправленным роботом и его имитационной моделью в среде </a:t>
            </a:r>
            <a:r>
              <a:rPr lang="en-US" sz="4000" b="1" dirty="0" err="1" smtClean="0">
                <a:solidFill>
                  <a:srgbClr val="0DA18F"/>
                </a:solidFill>
              </a:rPr>
              <a:t>CoppeliaSim</a:t>
            </a:r>
            <a:endParaRPr lang="ru-RU" sz="4000" b="1" dirty="0">
              <a:solidFill>
                <a:srgbClr val="0DA18F"/>
              </a:solidFill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218690" y="5256138"/>
            <a:ext cx="9534909" cy="10822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3200" b="1" dirty="0" smtClean="0">
                <a:solidFill>
                  <a:schemeClr val="accent1">
                    <a:lumMod val="50000"/>
                  </a:schemeClr>
                </a:solidFill>
              </a:rPr>
              <a:t>Автор</a:t>
            </a:r>
            <a:r>
              <a:rPr lang="en-US" sz="3200" b="1" dirty="0" smtClean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ru-RU" sz="3200" b="1" dirty="0" err="1" smtClean="0">
                <a:solidFill>
                  <a:srgbClr val="0DA18F"/>
                </a:solidFill>
              </a:rPr>
              <a:t>Брашовян</a:t>
            </a:r>
            <a:r>
              <a:rPr lang="ru-RU" sz="3200" b="1" dirty="0" smtClean="0">
                <a:solidFill>
                  <a:srgbClr val="0DA18F"/>
                </a:solidFill>
              </a:rPr>
              <a:t> </a:t>
            </a:r>
            <a:r>
              <a:rPr lang="ru-RU" sz="3200" b="1" dirty="0" smtClean="0">
                <a:solidFill>
                  <a:srgbClr val="0DA18F"/>
                </a:solidFill>
              </a:rPr>
              <a:t>Артём</a:t>
            </a:r>
            <a:r>
              <a:rPr lang="en-US" sz="3200" b="1" dirty="0" smtClean="0">
                <a:solidFill>
                  <a:srgbClr val="0DA18F"/>
                </a:solidFill>
              </a:rPr>
              <a:t> </a:t>
            </a:r>
            <a:r>
              <a:rPr lang="ru-RU" sz="3200" b="1" dirty="0" smtClean="0">
                <a:solidFill>
                  <a:srgbClr val="0DA18F"/>
                </a:solidFill>
              </a:rPr>
              <a:t>Игоревич, </a:t>
            </a:r>
            <a:r>
              <a:rPr lang="ru-RU" sz="3200" b="1" dirty="0" smtClean="0">
                <a:solidFill>
                  <a:srgbClr val="0DA18F"/>
                </a:solidFill>
              </a:rPr>
              <a:t>ПМИ41м</a:t>
            </a:r>
            <a:endParaRPr lang="en-US" sz="3200" b="1" dirty="0" smtClean="0">
              <a:solidFill>
                <a:srgbClr val="0DA18F"/>
              </a:solidFill>
            </a:endParaRPr>
          </a:p>
          <a:p>
            <a:pPr algn="l"/>
            <a:r>
              <a:rPr lang="ru-RU" sz="3200" b="1" dirty="0" smtClean="0">
                <a:solidFill>
                  <a:srgbClr val="10629C"/>
                </a:solidFill>
              </a:rPr>
              <a:t>Науч. </a:t>
            </a:r>
            <a:r>
              <a:rPr lang="ru-RU" sz="3200" b="1" dirty="0" err="1">
                <a:solidFill>
                  <a:srgbClr val="10629C"/>
                </a:solidFill>
              </a:rPr>
              <a:t>р</a:t>
            </a:r>
            <a:r>
              <a:rPr lang="ru-RU" sz="3200" b="1" dirty="0" err="1" smtClean="0">
                <a:solidFill>
                  <a:srgbClr val="10629C"/>
                </a:solidFill>
              </a:rPr>
              <a:t>уков</a:t>
            </a:r>
            <a:r>
              <a:rPr lang="ru-RU" sz="3200" b="1" dirty="0" smtClean="0">
                <a:solidFill>
                  <a:srgbClr val="10629C"/>
                </a:solidFill>
              </a:rPr>
              <a:t>.: </a:t>
            </a:r>
            <a:r>
              <a:rPr lang="ru-RU" sz="3200" b="1" dirty="0" err="1" smtClean="0">
                <a:solidFill>
                  <a:srgbClr val="0DA18F"/>
                </a:solidFill>
              </a:rPr>
              <a:t>Долматов</a:t>
            </a:r>
            <a:r>
              <a:rPr lang="ru-RU" sz="3200" b="1" dirty="0" smtClean="0">
                <a:solidFill>
                  <a:srgbClr val="0DA18F"/>
                </a:solidFill>
              </a:rPr>
              <a:t> Алексей Викторович</a:t>
            </a:r>
            <a:endParaRPr lang="ru-RU" sz="4000" b="1" dirty="0">
              <a:solidFill>
                <a:srgbClr val="0DA18F"/>
              </a:solidFill>
            </a:endParaRPr>
          </a:p>
        </p:txBody>
      </p:sp>
      <p:sp>
        <p:nvSpPr>
          <p:cNvPr id="6" name="object 4"/>
          <p:cNvSpPr/>
          <p:nvPr/>
        </p:nvSpPr>
        <p:spPr>
          <a:xfrm>
            <a:off x="8538452" y="1819333"/>
            <a:ext cx="3545419" cy="46354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22611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76" y="0"/>
            <a:ext cx="1013992" cy="995680"/>
          </a:xfrm>
          <a:prstGeom prst="rect">
            <a:avLst/>
          </a:prstGeom>
        </p:spPr>
      </p:pic>
      <p:cxnSp>
        <p:nvCxnSpPr>
          <p:cNvPr id="27" name="Прямая соединительная линия 26"/>
          <p:cNvCxnSpPr/>
          <p:nvPr/>
        </p:nvCxnSpPr>
        <p:spPr>
          <a:xfrm>
            <a:off x="1263846" y="853036"/>
            <a:ext cx="10514086" cy="0"/>
          </a:xfrm>
          <a:prstGeom prst="line">
            <a:avLst/>
          </a:prstGeom>
          <a:ln w="15875">
            <a:solidFill>
              <a:srgbClr val="0DA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/>
          <p:cNvSpPr/>
          <p:nvPr/>
        </p:nvSpPr>
        <p:spPr>
          <a:xfrm>
            <a:off x="1263846" y="114045"/>
            <a:ext cx="107500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0DA18F"/>
                </a:solidFill>
              </a:rPr>
              <a:t>Разработка программных средств для управления многоколёсным всенаправленным роботом и его имитационной моделью в среде </a:t>
            </a:r>
            <a:r>
              <a:rPr lang="en-US" sz="2000" b="1" dirty="0" err="1">
                <a:solidFill>
                  <a:srgbClr val="0DA18F"/>
                </a:solidFill>
              </a:rPr>
              <a:t>CoppeliaSim</a:t>
            </a:r>
            <a:endParaRPr lang="ru-RU" sz="2000" b="1" dirty="0">
              <a:solidFill>
                <a:srgbClr val="0DA18F"/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2479431" y="857947"/>
            <a:ext cx="9298501" cy="71096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>
                <a:solidFill>
                  <a:srgbClr val="10629C"/>
                </a:solidFill>
              </a:rPr>
              <a:t>Как быстро и удобно задать роботу траекторию движения для автономного воспроизведения?</a:t>
            </a:r>
          </a:p>
          <a:p>
            <a:endParaRPr lang="ru-RU" sz="2400" b="1" dirty="0" smtClean="0">
              <a:solidFill>
                <a:srgbClr val="10629C"/>
              </a:solidFill>
            </a:endParaRPr>
          </a:p>
          <a:p>
            <a:r>
              <a:rPr lang="ru-RU" sz="2400" b="1" dirty="0" smtClean="0">
                <a:solidFill>
                  <a:srgbClr val="10629C"/>
                </a:solidFill>
              </a:rPr>
              <a:t>управление </a:t>
            </a:r>
            <a:r>
              <a:rPr lang="ru-RU" sz="2400" b="1" dirty="0">
                <a:solidFill>
                  <a:srgbClr val="10629C"/>
                </a:solidFill>
              </a:rPr>
              <a:t>мобильным роботом и его имитационной </a:t>
            </a:r>
            <a:r>
              <a:rPr lang="ru-RU" sz="2400" b="1" dirty="0" smtClean="0">
                <a:solidFill>
                  <a:srgbClr val="10629C"/>
                </a:solidFill>
              </a:rPr>
              <a:t>моделью</a:t>
            </a:r>
          </a:p>
          <a:p>
            <a:endParaRPr lang="ru-RU" sz="2400" b="1" dirty="0" smtClean="0">
              <a:solidFill>
                <a:srgbClr val="10629C"/>
              </a:solidFill>
            </a:endParaRPr>
          </a:p>
          <a:p>
            <a:r>
              <a:rPr lang="ru-RU" sz="2400" b="1" dirty="0" smtClean="0">
                <a:solidFill>
                  <a:srgbClr val="10629C"/>
                </a:solidFill>
              </a:rPr>
              <a:t>алгоритм </a:t>
            </a:r>
            <a:r>
              <a:rPr lang="ru-RU" sz="2400" b="1" dirty="0">
                <a:solidFill>
                  <a:srgbClr val="10629C"/>
                </a:solidFill>
              </a:rPr>
              <a:t>и программные средства для формирования траектории движения в среде симуляции </a:t>
            </a:r>
            <a:r>
              <a:rPr lang="ru-RU" sz="2400" b="1" dirty="0" err="1">
                <a:solidFill>
                  <a:srgbClr val="10629C"/>
                </a:solidFill>
              </a:rPr>
              <a:t>CoppeliaSim</a:t>
            </a:r>
            <a:r>
              <a:rPr lang="ru-RU" sz="2400" b="1" dirty="0">
                <a:solidFill>
                  <a:srgbClr val="10629C"/>
                </a:solidFill>
              </a:rPr>
              <a:t>, её сохранения, передачи по беспроводному каналу и воспроизведения на реальном роботе</a:t>
            </a:r>
            <a:r>
              <a:rPr lang="ru-RU" sz="2400" b="1" dirty="0" smtClean="0">
                <a:solidFill>
                  <a:srgbClr val="10629C"/>
                </a:solidFill>
              </a:rPr>
              <a:t>.</a:t>
            </a:r>
          </a:p>
          <a:p>
            <a:endParaRPr lang="ru-RU" sz="2400" b="1" dirty="0">
              <a:solidFill>
                <a:srgbClr val="10629C"/>
              </a:solidFill>
            </a:endParaRPr>
          </a:p>
          <a:p>
            <a:r>
              <a:rPr lang="ru-RU" sz="2400" b="1" dirty="0">
                <a:solidFill>
                  <a:srgbClr val="10629C"/>
                </a:solidFill>
              </a:rPr>
              <a:t>разработать систему, позволяющую визуально задать путь на экране, автоматически преобразовать его в последовательность векторов скорости и затем передать на реального робота для точного повторения траектории</a:t>
            </a:r>
          </a:p>
          <a:p>
            <a:endParaRPr lang="ru-RU" sz="2400" b="1" dirty="0">
              <a:solidFill>
                <a:srgbClr val="10629C"/>
              </a:solidFill>
            </a:endParaRPr>
          </a:p>
          <a:p>
            <a:r>
              <a:rPr lang="ru-RU" sz="2400" b="1" dirty="0">
                <a:solidFill>
                  <a:srgbClr val="10629C"/>
                </a:solidFill>
              </a:rPr>
              <a:t>реализовать алгоритм движения по траектории в симуляции, передачу данных и воспроизведение на реальном роботе</a:t>
            </a:r>
          </a:p>
          <a:p>
            <a:endParaRPr lang="ru-RU" sz="2400" b="1" dirty="0" smtClean="0">
              <a:solidFill>
                <a:srgbClr val="10629C"/>
              </a:solidFill>
            </a:endParaRPr>
          </a:p>
          <a:p>
            <a:endParaRPr lang="ru-RU" sz="2400" b="1" dirty="0">
              <a:solidFill>
                <a:srgbClr val="10629C"/>
              </a:solidFill>
            </a:endParaRPr>
          </a:p>
          <a:p>
            <a:endParaRPr lang="ru-RU" sz="2400" b="1" dirty="0" smtClean="0">
              <a:solidFill>
                <a:srgbClr val="10629C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363864" y="6273225"/>
            <a:ext cx="828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2</a:t>
            </a:r>
            <a:endParaRPr lang="ru-RU" sz="32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34076" y="884142"/>
            <a:ext cx="3707408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0DA18F"/>
                </a:solidFill>
              </a:rPr>
              <a:t>Проблема</a:t>
            </a:r>
            <a:r>
              <a:rPr lang="ru-RU" sz="2400" b="1" dirty="0" smtClean="0">
                <a:solidFill>
                  <a:srgbClr val="0DA18F"/>
                </a:solidFill>
              </a:rPr>
              <a:t>:</a:t>
            </a:r>
          </a:p>
          <a:p>
            <a:endParaRPr lang="ru-RU" sz="2400" b="1" dirty="0">
              <a:solidFill>
                <a:srgbClr val="0DA18F"/>
              </a:solidFill>
            </a:endParaRPr>
          </a:p>
          <a:p>
            <a:r>
              <a:rPr lang="ru-RU" sz="2400" b="1" dirty="0" smtClean="0">
                <a:solidFill>
                  <a:srgbClr val="0DA18F"/>
                </a:solidFill>
              </a:rPr>
              <a:t>Объект </a:t>
            </a:r>
            <a:endParaRPr lang="ru-RU" sz="2400" b="1" dirty="0" smtClean="0">
              <a:solidFill>
                <a:srgbClr val="0DA18F"/>
              </a:solidFill>
            </a:endParaRPr>
          </a:p>
          <a:p>
            <a:r>
              <a:rPr lang="ru-RU" sz="2400" b="1" dirty="0" smtClean="0">
                <a:solidFill>
                  <a:srgbClr val="0DA18F"/>
                </a:solidFill>
              </a:rPr>
              <a:t>исследования</a:t>
            </a:r>
            <a:r>
              <a:rPr lang="ru-RU" sz="2400" b="1" dirty="0" smtClean="0">
                <a:solidFill>
                  <a:srgbClr val="0DA18F"/>
                </a:solidFill>
              </a:rPr>
              <a:t>:</a:t>
            </a:r>
          </a:p>
          <a:p>
            <a:endParaRPr lang="ru-RU" sz="2400" b="1" dirty="0">
              <a:solidFill>
                <a:srgbClr val="0DA18F"/>
              </a:solidFill>
            </a:endParaRPr>
          </a:p>
          <a:p>
            <a:r>
              <a:rPr lang="ru-RU" sz="2400" b="1" dirty="0" smtClean="0">
                <a:solidFill>
                  <a:srgbClr val="0DA18F"/>
                </a:solidFill>
              </a:rPr>
              <a:t>Предмет </a:t>
            </a:r>
            <a:endParaRPr lang="ru-RU" sz="2400" b="1" dirty="0" smtClean="0">
              <a:solidFill>
                <a:srgbClr val="0DA18F"/>
              </a:solidFill>
            </a:endParaRPr>
          </a:p>
          <a:p>
            <a:r>
              <a:rPr lang="ru-RU" sz="2400" b="1" dirty="0" smtClean="0">
                <a:solidFill>
                  <a:srgbClr val="0DA18F"/>
                </a:solidFill>
              </a:rPr>
              <a:t>исследования:</a:t>
            </a:r>
          </a:p>
          <a:p>
            <a:endParaRPr lang="ru-RU" sz="2400" b="1" dirty="0" smtClean="0">
              <a:solidFill>
                <a:srgbClr val="0DA18F"/>
              </a:solidFill>
            </a:endParaRPr>
          </a:p>
          <a:p>
            <a:endParaRPr lang="ru-RU" sz="2400" b="1" dirty="0">
              <a:solidFill>
                <a:srgbClr val="0DA18F"/>
              </a:solidFill>
            </a:endParaRPr>
          </a:p>
          <a:p>
            <a:r>
              <a:rPr lang="ru-RU" sz="2400" b="1" dirty="0" smtClean="0">
                <a:solidFill>
                  <a:srgbClr val="0DA18F"/>
                </a:solidFill>
              </a:rPr>
              <a:t>Цель:</a:t>
            </a:r>
          </a:p>
          <a:p>
            <a:endParaRPr lang="ru-RU" sz="2400" b="1" dirty="0" smtClean="0">
              <a:solidFill>
                <a:srgbClr val="0DA18F"/>
              </a:solidFill>
            </a:endParaRPr>
          </a:p>
          <a:p>
            <a:endParaRPr lang="ru-RU" sz="2400" b="1" dirty="0">
              <a:solidFill>
                <a:srgbClr val="0DA18F"/>
              </a:solidFill>
            </a:endParaRPr>
          </a:p>
          <a:p>
            <a:endParaRPr lang="ru-RU" sz="2400" b="1" dirty="0" smtClean="0">
              <a:solidFill>
                <a:srgbClr val="0DA18F"/>
              </a:solidFill>
            </a:endParaRPr>
          </a:p>
          <a:p>
            <a:endParaRPr lang="ru-RU" sz="2400" b="1" dirty="0">
              <a:solidFill>
                <a:srgbClr val="0DA18F"/>
              </a:solidFill>
            </a:endParaRPr>
          </a:p>
          <a:p>
            <a:r>
              <a:rPr lang="ru-RU" sz="2400" b="1" dirty="0" smtClean="0">
                <a:solidFill>
                  <a:srgbClr val="0DA18F"/>
                </a:solidFill>
              </a:rPr>
              <a:t>Задачи:</a:t>
            </a:r>
            <a:endParaRPr lang="ru-RU" sz="2400" b="1" dirty="0" smtClean="0">
              <a:solidFill>
                <a:srgbClr val="0DA18F"/>
              </a:solidFill>
            </a:endParaRPr>
          </a:p>
          <a:p>
            <a:endParaRPr lang="ru-RU" sz="2400" b="1" dirty="0" smtClean="0">
              <a:solidFill>
                <a:srgbClr val="0DA18F"/>
              </a:solidFill>
            </a:endParaRPr>
          </a:p>
          <a:p>
            <a:endParaRPr lang="ru-RU" sz="2400" b="1" dirty="0">
              <a:solidFill>
                <a:srgbClr val="0DA18F"/>
              </a:solidFill>
            </a:endParaRPr>
          </a:p>
          <a:p>
            <a:endParaRPr lang="ru-RU" sz="2400" b="1" dirty="0" smtClean="0">
              <a:solidFill>
                <a:srgbClr val="0DA18F"/>
              </a:solidFill>
            </a:endParaRPr>
          </a:p>
          <a:p>
            <a:endParaRPr lang="ru-RU" sz="2400" b="1" dirty="0" smtClean="0">
              <a:solidFill>
                <a:srgbClr val="0DA18F"/>
              </a:solidFill>
            </a:endParaRPr>
          </a:p>
          <a:p>
            <a:endParaRPr lang="ru-RU" sz="2400" b="1" dirty="0">
              <a:solidFill>
                <a:srgbClr val="0DA1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289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76" y="0"/>
            <a:ext cx="1013992" cy="995680"/>
          </a:xfrm>
          <a:prstGeom prst="rect">
            <a:avLst/>
          </a:prstGeom>
        </p:spPr>
      </p:pic>
      <p:cxnSp>
        <p:nvCxnSpPr>
          <p:cNvPr id="3" name="Прямая соединительная линия 2"/>
          <p:cNvCxnSpPr/>
          <p:nvPr/>
        </p:nvCxnSpPr>
        <p:spPr>
          <a:xfrm>
            <a:off x="1263846" y="853036"/>
            <a:ext cx="10514086" cy="0"/>
          </a:xfrm>
          <a:prstGeom prst="line">
            <a:avLst/>
          </a:prstGeom>
          <a:ln w="15875">
            <a:solidFill>
              <a:srgbClr val="0DA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1263846" y="114045"/>
            <a:ext cx="107500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0DA18F"/>
                </a:solidFill>
              </a:rPr>
              <a:t>Разработка программных средств для управления многоколёсным всенаправленным роботом и его имитационной моделью в среде </a:t>
            </a:r>
            <a:r>
              <a:rPr lang="en-US" sz="2000" b="1" dirty="0" err="1">
                <a:solidFill>
                  <a:srgbClr val="0DA18F"/>
                </a:solidFill>
              </a:rPr>
              <a:t>CoppeliaSim</a:t>
            </a:r>
            <a:endParaRPr lang="ru-RU" sz="2000" b="1" dirty="0">
              <a:solidFill>
                <a:srgbClr val="0DA18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363864" y="6273225"/>
            <a:ext cx="828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3</a:t>
            </a:r>
            <a:endParaRPr lang="ru-RU" sz="3200" b="1" dirty="0"/>
          </a:p>
        </p:txBody>
      </p:sp>
      <p:pic>
        <p:nvPicPr>
          <p:cNvPr id="8" name="Рисунок 7"/>
          <p:cNvPicPr/>
          <p:nvPr/>
        </p:nvPicPr>
        <p:blipFill>
          <a:blip r:embed="rId3"/>
          <a:stretch>
            <a:fillRect/>
          </a:stretch>
        </p:blipFill>
        <p:spPr>
          <a:xfrm>
            <a:off x="2206870" y="995680"/>
            <a:ext cx="8098742" cy="5510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500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76" y="0"/>
            <a:ext cx="1013992" cy="995680"/>
          </a:xfrm>
          <a:prstGeom prst="rect">
            <a:avLst/>
          </a:prstGeom>
        </p:spPr>
      </p:pic>
      <p:cxnSp>
        <p:nvCxnSpPr>
          <p:cNvPr id="3" name="Прямая соединительная линия 2"/>
          <p:cNvCxnSpPr/>
          <p:nvPr/>
        </p:nvCxnSpPr>
        <p:spPr>
          <a:xfrm>
            <a:off x="1263846" y="853036"/>
            <a:ext cx="10514086" cy="0"/>
          </a:xfrm>
          <a:prstGeom prst="line">
            <a:avLst/>
          </a:prstGeom>
          <a:ln w="15875">
            <a:solidFill>
              <a:srgbClr val="0DA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1263846" y="114045"/>
            <a:ext cx="107500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0DA18F"/>
                </a:solidFill>
              </a:rPr>
              <a:t>Разработка программных средств для управления многоколёсным всенаправленным роботом и его имитационной моделью в среде </a:t>
            </a:r>
            <a:r>
              <a:rPr lang="en-US" sz="2000" b="1" dirty="0" err="1">
                <a:solidFill>
                  <a:srgbClr val="0DA18F"/>
                </a:solidFill>
              </a:rPr>
              <a:t>CoppeliaSim</a:t>
            </a:r>
            <a:endParaRPr lang="ru-RU" sz="2000" b="1" dirty="0">
              <a:solidFill>
                <a:srgbClr val="0DA18F"/>
              </a:solidFill>
            </a:endParaRPr>
          </a:p>
        </p:txBody>
      </p:sp>
      <p:pic>
        <p:nvPicPr>
          <p:cNvPr id="8" name="Рисунок 7"/>
          <p:cNvPicPr/>
          <p:nvPr/>
        </p:nvPicPr>
        <p:blipFill>
          <a:blip r:embed="rId3"/>
          <a:stretch>
            <a:fillRect/>
          </a:stretch>
        </p:blipFill>
        <p:spPr>
          <a:xfrm>
            <a:off x="134076" y="1051448"/>
            <a:ext cx="11879784" cy="55603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63864" y="6273225"/>
            <a:ext cx="828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4</a:t>
            </a:r>
            <a:endParaRPr lang="ru-RU" sz="3200" b="1" dirty="0"/>
          </a:p>
        </p:txBody>
      </p:sp>
    </p:spTree>
    <p:extLst>
      <p:ext uri="{BB962C8B-B14F-4D97-AF65-F5344CB8AC3E}">
        <p14:creationId xmlns:p14="http://schemas.microsoft.com/office/powerpoint/2010/main" val="1204966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76" y="0"/>
            <a:ext cx="1013992" cy="995680"/>
          </a:xfrm>
          <a:prstGeom prst="rect">
            <a:avLst/>
          </a:prstGeom>
        </p:spPr>
      </p:pic>
      <p:cxnSp>
        <p:nvCxnSpPr>
          <p:cNvPr id="3" name="Прямая соединительная линия 2"/>
          <p:cNvCxnSpPr/>
          <p:nvPr/>
        </p:nvCxnSpPr>
        <p:spPr>
          <a:xfrm>
            <a:off x="1263846" y="853036"/>
            <a:ext cx="10514086" cy="0"/>
          </a:xfrm>
          <a:prstGeom prst="line">
            <a:avLst/>
          </a:prstGeom>
          <a:ln w="15875">
            <a:solidFill>
              <a:srgbClr val="0DA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1263846" y="114045"/>
            <a:ext cx="107500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0DA18F"/>
                </a:solidFill>
              </a:rPr>
              <a:t>Разработка программных средств для управления многоколёсным всенаправленным роботом и его имитационной моделью в среде </a:t>
            </a:r>
            <a:r>
              <a:rPr lang="en-US" sz="2000" b="1" dirty="0" err="1">
                <a:solidFill>
                  <a:srgbClr val="0DA18F"/>
                </a:solidFill>
              </a:rPr>
              <a:t>CoppeliaSim</a:t>
            </a:r>
            <a:endParaRPr lang="ru-RU" sz="2000" b="1" dirty="0">
              <a:solidFill>
                <a:srgbClr val="0DA18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63864" y="6273225"/>
            <a:ext cx="828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5</a:t>
            </a:r>
            <a:endParaRPr lang="ru-RU" sz="3200" b="1" dirty="0"/>
          </a:p>
        </p:txBody>
      </p:sp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229440" y="1026784"/>
            <a:ext cx="5375832" cy="3819535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5920012" y="1026783"/>
            <a:ext cx="6012908" cy="3819535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34076" y="5020064"/>
            <a:ext cx="1090273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10629C"/>
                </a:solidFill>
                <a:ea typeface="Calibri" panose="020F0502020204030204" pitchFamily="34" charset="0"/>
              </a:rPr>
              <a:t>Научная новизна работы заключается в создании цифрового двойника для 12-колёсной платформы </a:t>
            </a:r>
            <a:r>
              <a:rPr lang="en-US" sz="2400" dirty="0" err="1" smtClean="0">
                <a:solidFill>
                  <a:srgbClr val="10629C"/>
                </a:solidFill>
                <a:ea typeface="Calibri" panose="020F0502020204030204" pitchFamily="34" charset="0"/>
              </a:rPr>
              <a:t>mecanum</a:t>
            </a:r>
            <a:r>
              <a:rPr lang="ru-RU" sz="2400" dirty="0" smtClean="0">
                <a:solidFill>
                  <a:srgbClr val="10629C"/>
                </a:solidFill>
                <a:ea typeface="Calibri" panose="020F0502020204030204" pitchFamily="34" charset="0"/>
              </a:rPr>
              <a:t>. </a:t>
            </a:r>
            <a:r>
              <a:rPr lang="ru-RU" sz="2400" dirty="0">
                <a:solidFill>
                  <a:srgbClr val="10629C"/>
                </a:solidFill>
                <a:ea typeface="Calibri" panose="020F0502020204030204" pitchFamily="34" charset="0"/>
              </a:rPr>
              <a:t>В отличие от аналогов, система не требует дорогих датчиков, а траектория задаётся визуально в симуляции и воспроизводится на реальном роботе автономно</a:t>
            </a:r>
            <a:endParaRPr lang="ru-RU" sz="2400" dirty="0">
              <a:solidFill>
                <a:srgbClr val="10629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3570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76" y="0"/>
            <a:ext cx="1013992" cy="995680"/>
          </a:xfrm>
          <a:prstGeom prst="rect">
            <a:avLst/>
          </a:prstGeom>
        </p:spPr>
      </p:pic>
      <p:cxnSp>
        <p:nvCxnSpPr>
          <p:cNvPr id="3" name="Прямая соединительная линия 2"/>
          <p:cNvCxnSpPr/>
          <p:nvPr/>
        </p:nvCxnSpPr>
        <p:spPr>
          <a:xfrm>
            <a:off x="1263846" y="853036"/>
            <a:ext cx="10514086" cy="0"/>
          </a:xfrm>
          <a:prstGeom prst="line">
            <a:avLst/>
          </a:prstGeom>
          <a:ln w="15875">
            <a:solidFill>
              <a:srgbClr val="0DA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1263846" y="114045"/>
            <a:ext cx="107500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0DA18F"/>
                </a:solidFill>
              </a:rPr>
              <a:t>Разработка программных средств для управления многоколёсным всенаправленным роботом и его имитационной моделью в среде </a:t>
            </a:r>
            <a:r>
              <a:rPr lang="en-US" sz="2000" b="1" dirty="0" err="1">
                <a:solidFill>
                  <a:srgbClr val="0DA18F"/>
                </a:solidFill>
              </a:rPr>
              <a:t>CoppeliaSim</a:t>
            </a:r>
            <a:endParaRPr lang="ru-RU" sz="2000" b="1" dirty="0">
              <a:solidFill>
                <a:srgbClr val="0DA18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63864" y="6273225"/>
            <a:ext cx="828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6</a:t>
            </a:r>
            <a:endParaRPr lang="ru-RU" sz="3200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28600" y="1113718"/>
            <a:ext cx="6096000" cy="220457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2400" b="1" dirty="0">
                <a:solidFill>
                  <a:srgbClr val="10629C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Робот управляется вектором</a:t>
            </a:r>
            <a:r>
              <a:rPr lang="ru-RU" sz="2400" dirty="0">
                <a:solidFill>
                  <a:srgbClr val="10629C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400" b="1" dirty="0">
                <a:solidFill>
                  <a:srgbClr val="10629C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(V, α, ω)</a:t>
            </a:r>
            <a:r>
              <a:rPr lang="ru-RU" sz="2400" b="1" dirty="0">
                <a:solidFill>
                  <a:srgbClr val="10629C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b="1" dirty="0">
              <a:solidFill>
                <a:srgbClr val="10629C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10629C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u-RU" sz="2400" dirty="0">
                <a:solidFill>
                  <a:srgbClr val="10629C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dirty="0" smtClean="0">
                <a:solidFill>
                  <a:srgbClr val="10629C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400" dirty="0" smtClean="0">
                <a:solidFill>
                  <a:srgbClr val="10629C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rgbClr val="10629C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модуль линейной скорости (м/с)</a:t>
            </a:r>
            <a:endParaRPr lang="ru-RU" sz="2400" dirty="0">
              <a:solidFill>
                <a:srgbClr val="10629C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10629C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ru-RU" sz="2400" dirty="0">
                <a:solidFill>
                  <a:srgbClr val="10629C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dirty="0" smtClean="0">
                <a:solidFill>
                  <a:srgbClr val="10629C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400" dirty="0" smtClean="0">
                <a:solidFill>
                  <a:srgbClr val="10629C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rgbClr val="10629C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направление движения относительно корпуса (рад)</a:t>
            </a:r>
            <a:endParaRPr lang="ru-RU" sz="2400" dirty="0">
              <a:solidFill>
                <a:srgbClr val="10629C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10629C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ru-RU" sz="2400" dirty="0">
                <a:solidFill>
                  <a:srgbClr val="10629C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dirty="0" smtClean="0">
                <a:solidFill>
                  <a:srgbClr val="10629C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400" dirty="0" smtClean="0">
                <a:solidFill>
                  <a:srgbClr val="10629C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rgbClr val="10629C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угловая скорость поворота (рад/с)</a:t>
            </a:r>
            <a:endParaRPr lang="ru-RU" sz="2400" dirty="0">
              <a:solidFill>
                <a:srgbClr val="10629C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318296"/>
            <a:ext cx="4404394" cy="182313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7610" y="884142"/>
            <a:ext cx="5046281" cy="3468535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4518619" y="4229861"/>
            <a:ext cx="749524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2400" dirty="0">
                <a:solidFill>
                  <a:srgbClr val="10629C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Где </a:t>
            </a:r>
            <a:r>
              <a:rPr lang="ru-RU" sz="2400" b="1" dirty="0">
                <a:solidFill>
                  <a:srgbClr val="10629C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LF</a:t>
            </a:r>
            <a:r>
              <a:rPr lang="ru-RU" sz="2400" dirty="0">
                <a:solidFill>
                  <a:srgbClr val="10629C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rgbClr val="10629C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ru-RU" sz="2400" dirty="0" smtClean="0">
                <a:solidFill>
                  <a:srgbClr val="10629C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rgbClr val="10629C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левое переднее колесо, </a:t>
            </a:r>
            <a:r>
              <a:rPr lang="ru-RU" sz="2400" b="1" dirty="0">
                <a:solidFill>
                  <a:srgbClr val="10629C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RF</a:t>
            </a:r>
            <a:r>
              <a:rPr lang="ru-RU" sz="2400" dirty="0">
                <a:solidFill>
                  <a:srgbClr val="10629C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rgbClr val="10629C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ru-RU" sz="2400" dirty="0" smtClean="0">
                <a:solidFill>
                  <a:srgbClr val="10629C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rgbClr val="10629C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правое переднее колесо, </a:t>
            </a:r>
            <a:r>
              <a:rPr lang="ru-RU" sz="2400" b="1" dirty="0">
                <a:solidFill>
                  <a:srgbClr val="10629C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LB</a:t>
            </a:r>
            <a:r>
              <a:rPr lang="ru-RU" sz="2400" dirty="0">
                <a:solidFill>
                  <a:srgbClr val="10629C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rgbClr val="10629C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ru-RU" sz="2400" dirty="0" smtClean="0">
                <a:solidFill>
                  <a:srgbClr val="10629C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rgbClr val="10629C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левое заднее колесо, </a:t>
            </a:r>
            <a:r>
              <a:rPr lang="ru-RU" sz="2400" b="1" dirty="0">
                <a:solidFill>
                  <a:srgbClr val="10629C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RB</a:t>
            </a:r>
            <a:r>
              <a:rPr lang="ru-RU" sz="2400" dirty="0">
                <a:solidFill>
                  <a:srgbClr val="10629C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rgbClr val="10629C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ru-RU" sz="2400" dirty="0" smtClean="0">
                <a:solidFill>
                  <a:srgbClr val="10629C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rgbClr val="10629C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правое заднее колесо, </a:t>
            </a:r>
            <a:r>
              <a:rPr lang="ru-RU" sz="2400" b="1" dirty="0">
                <a:solidFill>
                  <a:srgbClr val="10629C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ru-RU" sz="2400" dirty="0">
                <a:solidFill>
                  <a:srgbClr val="10629C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rgbClr val="10629C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ru-RU" sz="2400" dirty="0" smtClean="0">
                <a:solidFill>
                  <a:srgbClr val="10629C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rgbClr val="10629C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радиус колеса, </a:t>
            </a:r>
            <a:r>
              <a:rPr lang="ru-RU" sz="2400" b="1" dirty="0">
                <a:solidFill>
                  <a:srgbClr val="10629C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ru-RU" sz="2400" dirty="0">
                <a:solidFill>
                  <a:srgbClr val="10629C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rgbClr val="10629C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ru-RU" sz="2400" dirty="0" smtClean="0">
                <a:solidFill>
                  <a:srgbClr val="10629C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rgbClr val="10629C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половина расстояния между передней и задней осью модуля.</a:t>
            </a:r>
            <a:endParaRPr lang="ru-RU" sz="2400" dirty="0">
              <a:solidFill>
                <a:srgbClr val="10629C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8046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76" y="0"/>
            <a:ext cx="1013992" cy="995680"/>
          </a:xfrm>
          <a:prstGeom prst="rect">
            <a:avLst/>
          </a:prstGeom>
        </p:spPr>
      </p:pic>
      <p:cxnSp>
        <p:nvCxnSpPr>
          <p:cNvPr id="3" name="Прямая соединительная линия 2"/>
          <p:cNvCxnSpPr/>
          <p:nvPr/>
        </p:nvCxnSpPr>
        <p:spPr>
          <a:xfrm>
            <a:off x="1263846" y="853036"/>
            <a:ext cx="10514086" cy="0"/>
          </a:xfrm>
          <a:prstGeom prst="line">
            <a:avLst/>
          </a:prstGeom>
          <a:ln w="15875">
            <a:solidFill>
              <a:srgbClr val="0DA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1263846" y="114045"/>
            <a:ext cx="107500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0DA18F"/>
                </a:solidFill>
              </a:rPr>
              <a:t>Разработка программных средств для управления многоколёсным всенаправленным роботом и его имитационной моделью в среде </a:t>
            </a:r>
            <a:r>
              <a:rPr lang="en-US" sz="2000" b="1" dirty="0" err="1">
                <a:solidFill>
                  <a:srgbClr val="0DA18F"/>
                </a:solidFill>
              </a:rPr>
              <a:t>CoppeliaSim</a:t>
            </a:r>
            <a:endParaRPr lang="ru-RU" sz="2000" b="1" dirty="0">
              <a:solidFill>
                <a:srgbClr val="0DA18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63864" y="6273225"/>
            <a:ext cx="828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7</a:t>
            </a:r>
            <a:endParaRPr lang="ru-RU" sz="3200" b="1" dirty="0"/>
          </a:p>
        </p:txBody>
      </p:sp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4629150" y="1562881"/>
            <a:ext cx="7384710" cy="400050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34076" y="1126481"/>
            <a:ext cx="449507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10629C"/>
                </a:solidFill>
              </a:rPr>
              <a:t>Получаем координаты робота и цели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10629C"/>
                </a:solidFill>
              </a:rPr>
              <a:t>Вычисляем вектор от робота к цели: </a:t>
            </a:r>
            <a:r>
              <a:rPr lang="ru-RU" sz="2400" dirty="0" err="1">
                <a:solidFill>
                  <a:srgbClr val="10629C"/>
                </a:solidFill>
              </a:rPr>
              <a:t>dx</a:t>
            </a:r>
            <a:r>
              <a:rPr lang="ru-RU" sz="2400" dirty="0">
                <a:solidFill>
                  <a:srgbClr val="10629C"/>
                </a:solidFill>
              </a:rPr>
              <a:t>, </a:t>
            </a:r>
            <a:r>
              <a:rPr lang="ru-RU" sz="2400" dirty="0" err="1">
                <a:solidFill>
                  <a:srgbClr val="10629C"/>
                </a:solidFill>
              </a:rPr>
              <a:t>dy</a:t>
            </a:r>
            <a:endParaRPr lang="ru-RU" sz="2400" dirty="0">
              <a:solidFill>
                <a:srgbClr val="10629C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10629C"/>
                </a:solidFill>
              </a:rPr>
              <a:t>Угол направления альфа: α = atan2(</a:t>
            </a:r>
            <a:r>
              <a:rPr lang="ru-RU" sz="2400" dirty="0" err="1">
                <a:solidFill>
                  <a:srgbClr val="10629C"/>
                </a:solidFill>
              </a:rPr>
              <a:t>dy</a:t>
            </a:r>
            <a:r>
              <a:rPr lang="ru-RU" sz="2400" dirty="0">
                <a:solidFill>
                  <a:srgbClr val="10629C"/>
                </a:solidFill>
              </a:rPr>
              <a:t>, </a:t>
            </a:r>
            <a:r>
              <a:rPr lang="ru-RU" sz="2400" dirty="0" err="1">
                <a:solidFill>
                  <a:srgbClr val="10629C"/>
                </a:solidFill>
              </a:rPr>
              <a:t>dx</a:t>
            </a:r>
            <a:r>
              <a:rPr lang="ru-RU" sz="2400" dirty="0">
                <a:solidFill>
                  <a:srgbClr val="10629C"/>
                </a:solidFill>
              </a:rPr>
              <a:t>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10629C"/>
                </a:solidFill>
              </a:rPr>
              <a:t>Расстояние до цели: </a:t>
            </a:r>
            <a:r>
              <a:rPr lang="ru-RU" sz="2400" dirty="0" err="1">
                <a:solidFill>
                  <a:srgbClr val="10629C"/>
                </a:solidFill>
              </a:rPr>
              <a:t>sqrt</a:t>
            </a:r>
            <a:r>
              <a:rPr lang="ru-RU" sz="2400" dirty="0">
                <a:solidFill>
                  <a:srgbClr val="10629C"/>
                </a:solidFill>
              </a:rPr>
              <a:t>(dx² + dy²)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10629C"/>
                </a:solidFill>
              </a:rPr>
              <a:t>ПИД-регулятор корректирует скорость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10629C"/>
                </a:solidFill>
              </a:rPr>
              <a:t>Конечный вектор с добавлением времени </a:t>
            </a:r>
            <a:r>
              <a:rPr lang="ru-RU" sz="2400" dirty="0" err="1">
                <a:solidFill>
                  <a:srgbClr val="10629C"/>
                </a:solidFill>
              </a:rPr>
              <a:t>dt</a:t>
            </a:r>
            <a:r>
              <a:rPr lang="ru-RU" sz="2400" dirty="0">
                <a:solidFill>
                  <a:srgbClr val="10629C"/>
                </a:solidFill>
              </a:rPr>
              <a:t> симуляции подается на расчет колёсам</a:t>
            </a:r>
          </a:p>
        </p:txBody>
      </p:sp>
    </p:spTree>
    <p:extLst>
      <p:ext uri="{BB962C8B-B14F-4D97-AF65-F5344CB8AC3E}">
        <p14:creationId xmlns:p14="http://schemas.microsoft.com/office/powerpoint/2010/main" val="1974130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76" y="0"/>
            <a:ext cx="1013992" cy="995680"/>
          </a:xfrm>
          <a:prstGeom prst="rect">
            <a:avLst/>
          </a:prstGeom>
        </p:spPr>
      </p:pic>
      <p:cxnSp>
        <p:nvCxnSpPr>
          <p:cNvPr id="3" name="Прямая соединительная линия 2"/>
          <p:cNvCxnSpPr/>
          <p:nvPr/>
        </p:nvCxnSpPr>
        <p:spPr>
          <a:xfrm>
            <a:off x="1263846" y="853036"/>
            <a:ext cx="10514086" cy="0"/>
          </a:xfrm>
          <a:prstGeom prst="line">
            <a:avLst/>
          </a:prstGeom>
          <a:ln w="15875">
            <a:solidFill>
              <a:srgbClr val="0DA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1263846" y="114045"/>
            <a:ext cx="107500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0DA18F"/>
                </a:solidFill>
              </a:rPr>
              <a:t>Разработка программных средств для управления многоколёсным всенаправленным роботом и его имитационной моделью в среде </a:t>
            </a:r>
            <a:r>
              <a:rPr lang="en-US" sz="2000" b="1" dirty="0" err="1">
                <a:solidFill>
                  <a:srgbClr val="0DA18F"/>
                </a:solidFill>
              </a:rPr>
              <a:t>CoppeliaSim</a:t>
            </a:r>
            <a:endParaRPr lang="ru-RU" sz="2000" b="1" dirty="0">
              <a:solidFill>
                <a:srgbClr val="0DA18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63864" y="6273225"/>
            <a:ext cx="828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8</a:t>
            </a:r>
            <a:endParaRPr lang="ru-RU" sz="3200" b="1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76" y="1026784"/>
            <a:ext cx="7308904" cy="5697865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7442980" y="2789849"/>
            <a:ext cx="4749020" cy="190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868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76" y="0"/>
            <a:ext cx="1013992" cy="995680"/>
          </a:xfrm>
          <a:prstGeom prst="rect">
            <a:avLst/>
          </a:prstGeom>
        </p:spPr>
      </p:pic>
      <p:cxnSp>
        <p:nvCxnSpPr>
          <p:cNvPr id="3" name="Прямая соединительная линия 2"/>
          <p:cNvCxnSpPr/>
          <p:nvPr/>
        </p:nvCxnSpPr>
        <p:spPr>
          <a:xfrm>
            <a:off x="1263846" y="853036"/>
            <a:ext cx="10514086" cy="0"/>
          </a:xfrm>
          <a:prstGeom prst="line">
            <a:avLst/>
          </a:prstGeom>
          <a:ln w="15875">
            <a:solidFill>
              <a:srgbClr val="0DA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1263846" y="114045"/>
            <a:ext cx="107500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0DA18F"/>
                </a:solidFill>
              </a:rPr>
              <a:t>Разработка программных средств для управления многоколёсным всенаправленным роботом и его имитационной моделью в среде </a:t>
            </a:r>
            <a:r>
              <a:rPr lang="en-US" sz="2000" b="1" dirty="0" err="1">
                <a:solidFill>
                  <a:srgbClr val="0DA18F"/>
                </a:solidFill>
              </a:rPr>
              <a:t>CoppeliaSim</a:t>
            </a:r>
            <a:endParaRPr lang="ru-RU" sz="2000" b="1" dirty="0">
              <a:solidFill>
                <a:srgbClr val="0DA18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63864" y="6273225"/>
            <a:ext cx="828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9</a:t>
            </a:r>
            <a:endParaRPr lang="ru-RU" sz="3200" b="1" dirty="0"/>
          </a:p>
        </p:txBody>
      </p:sp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4174492" y="1525415"/>
            <a:ext cx="7839368" cy="4322935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0" y="1196512"/>
            <a:ext cx="4174492" cy="45931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2400" b="1" dirty="0">
                <a:solidFill>
                  <a:srgbClr val="10629C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Прошивка не привязана к </a:t>
            </a:r>
            <a:r>
              <a:rPr lang="ru-RU" sz="2400" b="1" dirty="0" err="1">
                <a:solidFill>
                  <a:srgbClr val="10629C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CoppeliaSim</a:t>
            </a:r>
            <a:r>
              <a:rPr lang="en-US" sz="2400" b="1" dirty="0">
                <a:solidFill>
                  <a:srgbClr val="10629C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400" dirty="0">
                <a:solidFill>
                  <a:srgbClr val="10629C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 Можно отправлять траектории из любого источника, например:</a:t>
            </a:r>
            <a:endParaRPr lang="ru-RU" sz="2400" dirty="0">
              <a:solidFill>
                <a:srgbClr val="10629C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dirty="0" err="1" smtClean="0">
                <a:solidFill>
                  <a:srgbClr val="10629C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US" sz="2400" dirty="0">
                <a:solidFill>
                  <a:srgbClr val="10629C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smtClean="0">
                <a:solidFill>
                  <a:srgbClr val="10629C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скрипт</a:t>
            </a:r>
            <a:r>
              <a:rPr lang="ru-RU" sz="2400" dirty="0">
                <a:solidFill>
                  <a:srgbClr val="10629C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dirty="0">
                <a:solidFill>
                  <a:srgbClr val="10629C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400" dirty="0" smtClean="0">
                <a:solidFill>
                  <a:srgbClr val="10629C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rgbClr val="10629C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предустановленные команды (вперёд, назад, </a:t>
            </a:r>
            <a:r>
              <a:rPr lang="ru-RU" sz="2400" dirty="0" smtClean="0">
                <a:solidFill>
                  <a:srgbClr val="10629C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поворот)</a:t>
            </a:r>
            <a:endParaRPr lang="en-US" sz="2400" dirty="0" smtClean="0">
              <a:solidFill>
                <a:srgbClr val="10629C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rgbClr val="10629C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Управление </a:t>
            </a:r>
            <a:r>
              <a:rPr lang="ru-RU" sz="2400" dirty="0">
                <a:solidFill>
                  <a:srgbClr val="10629C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джойстиком в реальном времени на </a:t>
            </a:r>
            <a:r>
              <a:rPr lang="en-US" sz="2400" dirty="0">
                <a:solidFill>
                  <a:srgbClr val="10629C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ru-RU" sz="2400" dirty="0">
                <a:solidFill>
                  <a:srgbClr val="10629C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dirty="0" err="1">
                <a:solidFill>
                  <a:srgbClr val="10629C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js</a:t>
            </a:r>
            <a:endParaRPr lang="ru-RU" sz="2400" dirty="0">
              <a:solidFill>
                <a:srgbClr val="10629C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3340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76" y="0"/>
            <a:ext cx="1013992" cy="995680"/>
          </a:xfrm>
          <a:prstGeom prst="rect">
            <a:avLst/>
          </a:prstGeom>
        </p:spPr>
      </p:pic>
      <p:cxnSp>
        <p:nvCxnSpPr>
          <p:cNvPr id="4" name="Прямая соединительная линия 3"/>
          <p:cNvCxnSpPr/>
          <p:nvPr/>
        </p:nvCxnSpPr>
        <p:spPr>
          <a:xfrm>
            <a:off x="1263846" y="853036"/>
            <a:ext cx="10514086" cy="0"/>
          </a:xfrm>
          <a:prstGeom prst="line">
            <a:avLst/>
          </a:prstGeom>
          <a:ln w="15875">
            <a:solidFill>
              <a:srgbClr val="0DA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1263846" y="114045"/>
            <a:ext cx="107500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0DA18F"/>
                </a:solidFill>
              </a:rPr>
              <a:t>Разработка программных средств для управления многоколёсным всенаправленным роботом и его имитационной моделью в среде </a:t>
            </a:r>
            <a:r>
              <a:rPr lang="en-US" sz="2000" b="1" dirty="0" err="1">
                <a:solidFill>
                  <a:srgbClr val="0DA18F"/>
                </a:solidFill>
              </a:rPr>
              <a:t>CoppeliaSim</a:t>
            </a:r>
            <a:endParaRPr lang="ru-RU" sz="2000" b="1" dirty="0">
              <a:solidFill>
                <a:srgbClr val="0DA18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363864" y="6273225"/>
            <a:ext cx="828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10</a:t>
            </a:r>
            <a:endParaRPr lang="ru-RU" sz="3200" b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276224" y="1504950"/>
            <a:ext cx="5553075" cy="4650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ru-RU" sz="2400" b="1" dirty="0" smtClean="0">
                <a:solidFill>
                  <a:srgbClr val="10629C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Недостатки: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rgbClr val="10629C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расхождение </a:t>
            </a:r>
            <a:r>
              <a:rPr lang="ru-RU" sz="2400" dirty="0">
                <a:solidFill>
                  <a:srgbClr val="10629C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скоростей робота между симуляцией и реальностью, </a:t>
            </a:r>
            <a:endParaRPr lang="ru-RU" sz="2400" dirty="0" smtClean="0">
              <a:solidFill>
                <a:srgbClr val="10629C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rgbClr val="10629C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не </a:t>
            </a:r>
            <a:r>
              <a:rPr lang="ru-RU" sz="2400" dirty="0">
                <a:solidFill>
                  <a:srgbClr val="10629C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100% точное повторения траектории, </a:t>
            </a:r>
            <a:endParaRPr lang="ru-RU" sz="2400" dirty="0" smtClean="0">
              <a:solidFill>
                <a:srgbClr val="10629C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rgbClr val="10629C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сложный </a:t>
            </a:r>
            <a:r>
              <a:rPr lang="ru-RU" sz="2400" dirty="0">
                <a:solidFill>
                  <a:srgbClr val="10629C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подбор коэффициентов </a:t>
            </a:r>
            <a:r>
              <a:rPr lang="ru-RU" sz="2400" dirty="0" smtClean="0">
                <a:solidFill>
                  <a:srgbClr val="10629C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вручную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299" y="1742206"/>
            <a:ext cx="6047321" cy="364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93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76" y="0"/>
            <a:ext cx="1013992" cy="995680"/>
          </a:xfrm>
          <a:prstGeom prst="rect">
            <a:avLst/>
          </a:prstGeom>
        </p:spPr>
      </p:pic>
      <p:cxnSp>
        <p:nvCxnSpPr>
          <p:cNvPr id="3" name="Прямая соединительная линия 2"/>
          <p:cNvCxnSpPr/>
          <p:nvPr/>
        </p:nvCxnSpPr>
        <p:spPr>
          <a:xfrm>
            <a:off x="1263846" y="853036"/>
            <a:ext cx="10514086" cy="0"/>
          </a:xfrm>
          <a:prstGeom prst="line">
            <a:avLst/>
          </a:prstGeom>
          <a:ln w="15875">
            <a:solidFill>
              <a:srgbClr val="0DA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1263846" y="114045"/>
            <a:ext cx="107500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0DA18F"/>
                </a:solidFill>
              </a:rPr>
              <a:t>Разработка программных средств для управления многоколёсным всенаправленным роботом и его имитационной моделью в среде </a:t>
            </a:r>
            <a:r>
              <a:rPr lang="en-US" sz="2000" b="1" dirty="0" err="1">
                <a:solidFill>
                  <a:srgbClr val="0DA18F"/>
                </a:solidFill>
              </a:rPr>
              <a:t>CoppeliaSim</a:t>
            </a:r>
            <a:endParaRPr lang="ru-RU" sz="2000" b="1" dirty="0">
              <a:solidFill>
                <a:srgbClr val="0DA18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63864" y="6273225"/>
            <a:ext cx="828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11</a:t>
            </a:r>
            <a:endParaRPr lang="ru-RU" sz="32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3506226" y="995680"/>
            <a:ext cx="60293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 smtClean="0">
                <a:solidFill>
                  <a:srgbClr val="10629C"/>
                </a:solidFill>
              </a:rPr>
              <a:t>Спасибо за внимание!</a:t>
            </a:r>
            <a:endParaRPr lang="ru-RU" sz="4000" b="1" dirty="0">
              <a:solidFill>
                <a:srgbClr val="10629C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8398" y="1703566"/>
            <a:ext cx="3796852" cy="37968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24800" y="5425156"/>
            <a:ext cx="4010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rgbClr val="10629C"/>
                </a:solidFill>
              </a:rPr>
              <a:t>Ссылка на проект </a:t>
            </a:r>
            <a:r>
              <a:rPr lang="en-US" sz="2400" dirty="0" smtClean="0">
                <a:solidFill>
                  <a:srgbClr val="10629C"/>
                </a:solidFill>
              </a:rPr>
              <a:t>GitHub</a:t>
            </a:r>
            <a:endParaRPr lang="ru-RU" sz="2400" dirty="0">
              <a:solidFill>
                <a:srgbClr val="10629C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1428" y="2444054"/>
            <a:ext cx="636959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>
                <a:solidFill>
                  <a:srgbClr val="10629C"/>
                </a:solidFill>
              </a:rPr>
              <a:t>Связь со мной:</a:t>
            </a:r>
            <a:endParaRPr lang="en-US" sz="3200" b="1" dirty="0" smtClean="0">
              <a:solidFill>
                <a:srgbClr val="10629C"/>
              </a:solidFill>
            </a:endParaRPr>
          </a:p>
          <a:p>
            <a:endParaRPr lang="ru-RU" sz="3200" b="1" dirty="0" smtClean="0">
              <a:solidFill>
                <a:srgbClr val="10629C"/>
              </a:solidFill>
            </a:endParaRPr>
          </a:p>
          <a:p>
            <a:r>
              <a:rPr lang="en-US" sz="3200" b="1" dirty="0" smtClean="0">
                <a:solidFill>
                  <a:srgbClr val="10629C"/>
                </a:solidFill>
              </a:rPr>
              <a:t>+7 961 752 79 14 (telegram </a:t>
            </a:r>
            <a:r>
              <a:rPr lang="ru-RU" sz="3200" b="1" dirty="0" smtClean="0">
                <a:solidFill>
                  <a:srgbClr val="10629C"/>
                </a:solidFill>
              </a:rPr>
              <a:t>и </a:t>
            </a:r>
            <a:r>
              <a:rPr lang="en-US" sz="3200" b="1" dirty="0" smtClean="0">
                <a:solidFill>
                  <a:srgbClr val="10629C"/>
                </a:solidFill>
              </a:rPr>
              <a:t>max)</a:t>
            </a:r>
          </a:p>
          <a:p>
            <a:endParaRPr lang="en-US" sz="3200" b="1" dirty="0" smtClean="0">
              <a:solidFill>
                <a:srgbClr val="10629C"/>
              </a:solidFill>
            </a:endParaRPr>
          </a:p>
          <a:p>
            <a:r>
              <a:rPr lang="en-US" sz="3200" b="1" dirty="0" smtClean="0">
                <a:solidFill>
                  <a:srgbClr val="10629C"/>
                </a:solidFill>
              </a:rPr>
              <a:t>artembrash@mail.ru</a:t>
            </a:r>
            <a:endParaRPr lang="ru-RU" sz="3200" b="1" dirty="0">
              <a:solidFill>
                <a:srgbClr val="10629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9518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4099</TotalTime>
  <Words>439</Words>
  <Application>Microsoft Office PowerPoint</Application>
  <PresentationFormat>Широкоэкранный</PresentationFormat>
  <Paragraphs>81</Paragraphs>
  <Slides>11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Оля и Валера Самарины</dc:creator>
  <cp:lastModifiedBy>artem</cp:lastModifiedBy>
  <cp:revision>208</cp:revision>
  <dcterms:created xsi:type="dcterms:W3CDTF">2021-04-01T13:37:08Z</dcterms:created>
  <dcterms:modified xsi:type="dcterms:W3CDTF">2026-06-14T11:47:34Z</dcterms:modified>
</cp:coreProperties>
</file>