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11" r:id="rId4"/>
    <p:sldId id="312" r:id="rId5"/>
    <p:sldId id="313" r:id="rId6"/>
    <p:sldId id="314" r:id="rId7"/>
    <p:sldId id="322" r:id="rId8"/>
    <p:sldId id="315" r:id="rId9"/>
    <p:sldId id="319" r:id="rId10"/>
    <p:sldId id="320" r:id="rId11"/>
    <p:sldId id="321" r:id="rId12"/>
    <p:sldId id="317" r:id="rId13"/>
    <p:sldId id="310" r:id="rId14"/>
    <p:sldId id="31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A18F"/>
    <a:srgbClr val="10629C"/>
    <a:srgbClr val="008755"/>
    <a:srgbClr val="00569D"/>
    <a:srgbClr val="ED6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BE7A9-760A-4317-9297-F80EEAEE4B4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FC975-8B91-4712-88B8-F5A12D6D94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2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2FC975-8B91-4712-88B8-F5A12D6D94A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682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2FC975-8B91-4712-88B8-F5A12D6D94A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64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655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94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97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96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3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994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6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33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81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593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42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826F5-2F33-4666-8603-7278F65854EB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AA4D9-1911-4BAB-8ACD-D55A977684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19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1" t="10070" r="20395" b="9365"/>
          <a:stretch/>
        </p:blipFill>
        <p:spPr>
          <a:xfrm>
            <a:off x="90617" y="48244"/>
            <a:ext cx="1120346" cy="131805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23" y="48244"/>
            <a:ext cx="9741436" cy="1082227"/>
          </a:xfrm>
        </p:spPr>
        <p:txBody>
          <a:bodyPr>
            <a:noAutofit/>
          </a:bodyPr>
          <a:lstStyle/>
          <a:p>
            <a:pPr algn="l"/>
            <a:r>
              <a:rPr lang="ru-RU" sz="3600" b="1" dirty="0">
                <a:solidFill>
                  <a:schemeClr val="accent1">
                    <a:lumMod val="50000"/>
                  </a:schemeClr>
                </a:solidFill>
              </a:rPr>
              <a:t>Югорский Государственный Университет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ru-RU" sz="3600" b="1" dirty="0">
                <a:solidFill>
                  <a:srgbClr val="0DA18F"/>
                </a:solidFill>
              </a:rPr>
              <a:t>Инженерная школа цифровых технологий</a:t>
            </a:r>
            <a:endParaRPr lang="ru-RU" sz="3600" b="1" dirty="0">
              <a:solidFill>
                <a:srgbClr val="0DA18F"/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502508" y="1303867"/>
            <a:ext cx="9652959" cy="10822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b="1" dirty="0" smtClean="0">
                <a:solidFill>
                  <a:schemeClr val="accent1">
                    <a:lumMod val="50000"/>
                  </a:schemeClr>
                </a:solidFill>
              </a:rPr>
              <a:t>Магистерская диссертация </a:t>
            </a:r>
          </a:p>
          <a:p>
            <a:r>
              <a:rPr lang="ru-RU" sz="4000" b="1" dirty="0" smtClean="0">
                <a:solidFill>
                  <a:srgbClr val="0DA18F"/>
                </a:solidFill>
              </a:rPr>
              <a:t>Разработка </a:t>
            </a:r>
            <a:r>
              <a:rPr lang="ru-RU" sz="4000" b="1" dirty="0" smtClean="0">
                <a:solidFill>
                  <a:srgbClr val="0DA18F"/>
                </a:solidFill>
              </a:rPr>
              <a:t>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4000" b="1" dirty="0" err="1" smtClean="0">
                <a:solidFill>
                  <a:srgbClr val="0DA18F"/>
                </a:solidFill>
              </a:rPr>
              <a:t>CoppeliaSim</a:t>
            </a:r>
            <a:endParaRPr lang="ru-RU" sz="4000" b="1" dirty="0">
              <a:solidFill>
                <a:srgbClr val="0DA18F"/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5760" y="4897792"/>
            <a:ext cx="9534909" cy="10822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3200" b="1" dirty="0" smtClean="0">
                <a:solidFill>
                  <a:srgbClr val="0DA18F"/>
                </a:solidFill>
              </a:rPr>
              <a:t>Автор</a:t>
            </a:r>
            <a:r>
              <a:rPr lang="en-US" sz="3200" b="1" dirty="0" smtClean="0">
                <a:solidFill>
                  <a:srgbClr val="0DA18F"/>
                </a:solidFill>
              </a:rPr>
              <a:t>: </a:t>
            </a:r>
            <a:r>
              <a:rPr lang="ru-RU" sz="3200" b="1" dirty="0" err="1" smtClean="0">
                <a:solidFill>
                  <a:schemeClr val="accent1">
                    <a:lumMod val="50000"/>
                  </a:schemeClr>
                </a:solidFill>
              </a:rPr>
              <a:t>Брашовян</a:t>
            </a:r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</a:rPr>
              <a:t> Артём</a:t>
            </a: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</a:rPr>
              <a:t>Игоревич, ПМИ41м</a:t>
            </a:r>
            <a:endParaRPr lang="en-US" sz="32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ru-RU" sz="3200" b="1" dirty="0" smtClean="0">
                <a:solidFill>
                  <a:srgbClr val="0DA18F"/>
                </a:solidFill>
              </a:rPr>
              <a:t>Науч. </a:t>
            </a:r>
            <a:r>
              <a:rPr lang="ru-RU" sz="3200" b="1" dirty="0" err="1">
                <a:solidFill>
                  <a:srgbClr val="0DA18F"/>
                </a:solidFill>
              </a:rPr>
              <a:t>р</a:t>
            </a:r>
            <a:r>
              <a:rPr lang="ru-RU" sz="3200" b="1" dirty="0" err="1" smtClean="0">
                <a:solidFill>
                  <a:srgbClr val="0DA18F"/>
                </a:solidFill>
              </a:rPr>
              <a:t>уков</a:t>
            </a:r>
            <a:r>
              <a:rPr lang="ru-RU" sz="3200" b="1" dirty="0" smtClean="0">
                <a:solidFill>
                  <a:srgbClr val="0DA18F"/>
                </a:solidFill>
              </a:rPr>
              <a:t>.: </a:t>
            </a:r>
            <a:r>
              <a:rPr lang="ru-RU" sz="3200" b="1" dirty="0" err="1" smtClean="0">
                <a:solidFill>
                  <a:schemeClr val="accent1">
                    <a:lumMod val="50000"/>
                  </a:schemeClr>
                </a:solidFill>
              </a:rPr>
              <a:t>Долматов</a:t>
            </a:r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</a:rPr>
              <a:t> Алексей Викторович</a:t>
            </a:r>
            <a:endParaRPr lang="ru-RU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object 4"/>
          <p:cNvSpPr/>
          <p:nvPr/>
        </p:nvSpPr>
        <p:spPr>
          <a:xfrm>
            <a:off x="8538452" y="1819333"/>
            <a:ext cx="3545419" cy="46354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02227" y="6223999"/>
            <a:ext cx="4885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DA18F"/>
                </a:solidFill>
              </a:rPr>
              <a:t>Ханты-Мансийск, 2026</a:t>
            </a:r>
            <a:endParaRPr lang="ru-RU" sz="2400" b="1" dirty="0">
              <a:solidFill>
                <a:srgbClr val="0DA1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61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27" name="Прямая соединительная линия 26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479431" y="857947"/>
            <a:ext cx="9298501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10629C"/>
                </a:solidFill>
              </a:rPr>
              <a:t>Как быстро и удобно задать роботу траекторию движения для автономного воспроизведения?</a:t>
            </a:r>
          </a:p>
          <a:p>
            <a:endParaRPr lang="ru-RU" sz="2400" b="1" dirty="0" smtClean="0">
              <a:solidFill>
                <a:srgbClr val="10629C"/>
              </a:solidFill>
            </a:endParaRPr>
          </a:p>
          <a:p>
            <a:r>
              <a:rPr lang="ru-RU" sz="2400" b="1" dirty="0" smtClean="0">
                <a:solidFill>
                  <a:srgbClr val="10629C"/>
                </a:solidFill>
              </a:rPr>
              <a:t>управление </a:t>
            </a:r>
            <a:r>
              <a:rPr lang="ru-RU" sz="2400" b="1" dirty="0">
                <a:solidFill>
                  <a:srgbClr val="10629C"/>
                </a:solidFill>
              </a:rPr>
              <a:t>мобильным роботом и его имитационной </a:t>
            </a:r>
            <a:r>
              <a:rPr lang="ru-RU" sz="2400" b="1" dirty="0" smtClean="0">
                <a:solidFill>
                  <a:srgbClr val="10629C"/>
                </a:solidFill>
              </a:rPr>
              <a:t>моделью</a:t>
            </a:r>
          </a:p>
          <a:p>
            <a:endParaRPr lang="ru-RU" sz="2400" b="1" dirty="0" smtClean="0">
              <a:solidFill>
                <a:srgbClr val="10629C"/>
              </a:solidFill>
            </a:endParaRPr>
          </a:p>
          <a:p>
            <a:r>
              <a:rPr lang="ru-RU" sz="2400" b="1" dirty="0" smtClean="0">
                <a:solidFill>
                  <a:srgbClr val="10629C"/>
                </a:solidFill>
              </a:rPr>
              <a:t>алгоритм </a:t>
            </a:r>
            <a:r>
              <a:rPr lang="ru-RU" sz="2400" b="1" dirty="0">
                <a:solidFill>
                  <a:srgbClr val="10629C"/>
                </a:solidFill>
              </a:rPr>
              <a:t>и программные средства для формирования траектории движения в среде симуляции </a:t>
            </a:r>
            <a:r>
              <a:rPr lang="ru-RU" sz="2400" b="1" dirty="0" err="1">
                <a:solidFill>
                  <a:srgbClr val="10629C"/>
                </a:solidFill>
              </a:rPr>
              <a:t>CoppeliaSim</a:t>
            </a:r>
            <a:r>
              <a:rPr lang="ru-RU" sz="2400" b="1" dirty="0">
                <a:solidFill>
                  <a:srgbClr val="10629C"/>
                </a:solidFill>
              </a:rPr>
              <a:t>, её сохранения, передачи по беспроводному каналу и воспроизведения на реальном роботе</a:t>
            </a:r>
            <a:r>
              <a:rPr lang="ru-RU" sz="2400" b="1" dirty="0" smtClean="0">
                <a:solidFill>
                  <a:srgbClr val="10629C"/>
                </a:solidFill>
              </a:rPr>
              <a:t>.</a:t>
            </a:r>
          </a:p>
          <a:p>
            <a:endParaRPr lang="ru-RU" sz="2400" b="1" dirty="0">
              <a:solidFill>
                <a:srgbClr val="10629C"/>
              </a:solidFill>
            </a:endParaRPr>
          </a:p>
          <a:p>
            <a:r>
              <a:rPr lang="ru-RU" sz="2400" b="1" dirty="0">
                <a:solidFill>
                  <a:srgbClr val="10629C"/>
                </a:solidFill>
              </a:rPr>
              <a:t>разработать систему, позволяющую визуально задать путь на экране, автоматически преобразовать его в последовательность векторов скорости и затем передать на реального робота для точного повторения траектории</a:t>
            </a:r>
          </a:p>
          <a:p>
            <a:endParaRPr lang="ru-RU" sz="2400" b="1" dirty="0">
              <a:solidFill>
                <a:srgbClr val="10629C"/>
              </a:solidFill>
            </a:endParaRPr>
          </a:p>
          <a:p>
            <a:r>
              <a:rPr lang="ru-RU" sz="2400" b="1" dirty="0">
                <a:solidFill>
                  <a:srgbClr val="10629C"/>
                </a:solidFill>
              </a:rPr>
              <a:t>реализовать алгоритм движения по траектории в симуляции, передачу данных и воспроизведение на реальном роботе</a:t>
            </a:r>
          </a:p>
          <a:p>
            <a:endParaRPr lang="ru-RU" sz="2400" b="1" dirty="0" smtClean="0">
              <a:solidFill>
                <a:srgbClr val="10629C"/>
              </a:solidFill>
            </a:endParaRPr>
          </a:p>
          <a:p>
            <a:endParaRPr lang="ru-RU" sz="2400" b="1" dirty="0">
              <a:solidFill>
                <a:srgbClr val="10629C"/>
              </a:solidFill>
            </a:endParaRPr>
          </a:p>
          <a:p>
            <a:endParaRPr lang="ru-RU" sz="2400" b="1" dirty="0" smtClean="0">
              <a:solidFill>
                <a:srgbClr val="10629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2</a:t>
            </a:r>
            <a:endParaRPr lang="ru-RU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34076" y="884142"/>
            <a:ext cx="370740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DA18F"/>
                </a:solidFill>
              </a:rPr>
              <a:t>Проблема</a:t>
            </a:r>
            <a:r>
              <a:rPr lang="ru-RU" sz="2400" b="1" dirty="0" smtClean="0">
                <a:solidFill>
                  <a:srgbClr val="0DA18F"/>
                </a:solidFill>
              </a:rPr>
              <a:t>:</a:t>
            </a: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Объект </a:t>
            </a:r>
          </a:p>
          <a:p>
            <a:r>
              <a:rPr lang="ru-RU" sz="2400" b="1" dirty="0" smtClean="0">
                <a:solidFill>
                  <a:srgbClr val="0DA18F"/>
                </a:solidFill>
              </a:rPr>
              <a:t>исследования:</a:t>
            </a: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Предмет </a:t>
            </a:r>
          </a:p>
          <a:p>
            <a:r>
              <a:rPr lang="ru-RU" sz="2400" b="1" dirty="0" smtClean="0">
                <a:solidFill>
                  <a:srgbClr val="0DA18F"/>
                </a:solidFill>
              </a:rPr>
              <a:t>исследования:</a:t>
            </a: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Цель:</a:t>
            </a: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r>
              <a:rPr lang="ru-RU" sz="2400" b="1" dirty="0" smtClean="0">
                <a:solidFill>
                  <a:srgbClr val="0DA18F"/>
                </a:solidFill>
              </a:rPr>
              <a:t>Задачи:</a:t>
            </a: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 smtClean="0">
              <a:solidFill>
                <a:srgbClr val="0DA18F"/>
              </a:solidFill>
            </a:endParaRPr>
          </a:p>
          <a:p>
            <a:endParaRPr lang="ru-RU" sz="2400" b="1" dirty="0">
              <a:solidFill>
                <a:srgbClr val="0DA1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89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3</a:t>
            </a: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229788" y="1026785"/>
            <a:ext cx="8098742" cy="5510627"/>
          </a:xfrm>
          <a:prstGeom prst="rect">
            <a:avLst/>
          </a:prstGeom>
        </p:spPr>
      </p:pic>
      <p:pic>
        <p:nvPicPr>
          <p:cNvPr id="1028" name="Picture 4" descr="welcom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021" y="1026785"/>
            <a:ext cx="3268246" cy="82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Приложения в Google Play – Lua for Games: Learn &amp; Cod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530" y="1884092"/>
            <a:ext cx="1556007" cy="155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gram Your Arduino Like a Pro with the Eclipse C/C++ IDE | The Eclipse  Foundati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6966" y="2026735"/>
            <a:ext cx="2465034" cy="113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ython (programming language) - Wikiped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955" y="3338191"/>
            <a:ext cx="1165011" cy="116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Node.js — Википедия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144" y="3338191"/>
            <a:ext cx="1989262" cy="122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Создание базы данных с помощью SQLite — краткое введение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3" b="19716"/>
          <a:stretch/>
        </p:blipFill>
        <p:spPr bwMode="auto">
          <a:xfrm>
            <a:off x="8466576" y="4613797"/>
            <a:ext cx="1845331" cy="74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Visual Studio Code launches as a snap | Canonical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955" y="5355203"/>
            <a:ext cx="1845331" cy="92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it — Википедия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286" y="5178386"/>
            <a:ext cx="1527159" cy="6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50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134076" y="1051448"/>
            <a:ext cx="11879784" cy="55603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496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</a:t>
            </a:r>
            <a:endParaRPr lang="ru-RU" sz="3200" b="1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29440" y="1026784"/>
            <a:ext cx="5375832" cy="3819535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920012" y="1026783"/>
            <a:ext cx="6012908" cy="381953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34076" y="5020064"/>
            <a:ext cx="109027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</a:rPr>
              <a:t>Научная новизна работы заключается в создании цифрового двойника для 12-колёсной платформы </a:t>
            </a:r>
            <a:r>
              <a:rPr lang="en-US" sz="2400" dirty="0" err="1" smtClean="0">
                <a:solidFill>
                  <a:srgbClr val="10629C"/>
                </a:solidFill>
                <a:ea typeface="Calibri" panose="020F0502020204030204" pitchFamily="34" charset="0"/>
              </a:rPr>
              <a:t>mecanum</a:t>
            </a:r>
            <a:r>
              <a:rPr lang="ru-RU" sz="2400" dirty="0" smtClean="0">
                <a:solidFill>
                  <a:srgbClr val="10629C"/>
                </a:solidFill>
                <a:ea typeface="Calibri" panose="020F0502020204030204" pitchFamily="34" charset="0"/>
              </a:rPr>
              <a:t>. </a:t>
            </a:r>
            <a:r>
              <a:rPr lang="ru-RU" sz="2400" dirty="0">
                <a:solidFill>
                  <a:srgbClr val="10629C"/>
                </a:solidFill>
                <a:ea typeface="Calibri" panose="020F0502020204030204" pitchFamily="34" charset="0"/>
              </a:rPr>
              <a:t>В отличие от аналогов, система не требует дорогих датчиков, а траектория задаётся визуально в симуляции и воспроизводится на реальном роботе автономно</a:t>
            </a:r>
            <a:endParaRPr lang="ru-RU" sz="2400" dirty="0">
              <a:solidFill>
                <a:srgbClr val="1062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57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6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28600" y="1113718"/>
                <a:ext cx="6096000" cy="30124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ru-RU" sz="2400" b="1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Робот управляется вектором</a:t>
                </a:r>
                <a:r>
                  <a:rPr lang="ru-RU" sz="2400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2400" b="1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Courier New" panose="02070309020205020404" pitchFamily="49" charset="0"/>
                  </a:rPr>
                  <a:t>(V, α, ω)</a:t>
                </a:r>
                <a:r>
                  <a:rPr lang="ru-RU" sz="2400" b="1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400" b="1" dirty="0">
                  <a:solidFill>
                    <a:srgbClr val="10629C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ru-RU" sz="2400" b="1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sz="2400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dirty="0" smtClean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2400" dirty="0" smtClean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модуль линейной скорости (м/с)</a:t>
                </a:r>
                <a:endParaRPr lang="ru-RU" sz="2400" dirty="0">
                  <a:solidFill>
                    <a:srgbClr val="10629C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ru-RU" sz="2400" b="1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ru-RU" sz="2400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dirty="0" smtClean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2400" dirty="0" smtClean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направление движения относительно корпуса (рад)</a:t>
                </a:r>
                <a:endParaRPr lang="ru-RU" sz="2400" dirty="0">
                  <a:solidFill>
                    <a:srgbClr val="10629C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ru-RU" sz="2400" b="1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ru-RU" sz="2400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dirty="0" smtClean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2400" dirty="0" smtClean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угловая скорость поворота (рад/с</a:t>
                </a:r>
                <a:r>
                  <a:rPr lang="ru-RU" sz="2400" dirty="0" smtClean="0">
                    <a:solidFill>
                      <a:srgbClr val="10629C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dirty="0" smtClean="0">
                  <a:solidFill>
                    <a:srgbClr val="10629C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ru-RU" sz="2400" b="1" i="1" smtClean="0">
                        <a:solidFill>
                          <a:srgbClr val="10629C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 smtClean="0">
                    <a:solidFill>
                      <a:srgbClr val="10629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 smtClean="0">
                    <a:solidFill>
                      <a:srgbClr val="10629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в зависимости от модуля робота </a:t>
                </a:r>
                <a:r>
                  <a:rPr lang="ru-RU" sz="2400" dirty="0">
                    <a:solidFill>
                      <a:srgbClr val="10629C"/>
                    </a:solidFill>
                  </a:rPr>
                  <a:t>0°, 60°, 120°</a:t>
                </a:r>
                <a:endParaRPr lang="ru-RU" sz="2400" dirty="0">
                  <a:solidFill>
                    <a:srgbClr val="10629C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113718"/>
                <a:ext cx="6096000" cy="3012428"/>
              </a:xfrm>
              <a:prstGeom prst="rect">
                <a:avLst/>
              </a:prstGeom>
              <a:blipFill rotWithShape="0">
                <a:blip r:embed="rId3"/>
                <a:stretch>
                  <a:fillRect l="-1600" t="-1417" r="-200" b="-3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72" y="4286409"/>
            <a:ext cx="4404394" cy="182313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889" y="1016723"/>
            <a:ext cx="5151741" cy="509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4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785"/>
            <a:ext cx="4602905" cy="26143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5446332" y="1151400"/>
                <a:ext cx="6096000" cy="220271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𝐿𝐹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левое переднее колесо,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𝑅𝐹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правое переднее колесо,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𝐿𝐵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левое заднее колесо,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правое заднее колесо, R </a:t>
                </a:r>
                <a:r>
                  <a:rPr lang="en-US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радиус колеса,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половина расстояния между передними колесами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solidFill>
                              <a:srgbClr val="10629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10629C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- половина расстояния между передними и задними колесами.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332" y="1151400"/>
                <a:ext cx="6096000" cy="2202719"/>
              </a:xfrm>
              <a:prstGeom prst="rect">
                <a:avLst/>
              </a:prstGeom>
              <a:blipFill rotWithShape="0">
                <a:blip r:embed="rId3"/>
                <a:stretch>
                  <a:fillRect l="-800" r="-900" b="-16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7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452" y="3566578"/>
            <a:ext cx="7694141" cy="329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5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8</a:t>
            </a:r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4629150" y="1562881"/>
            <a:ext cx="7384710" cy="40005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34076" y="1126481"/>
            <a:ext cx="449507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Получаем координаты робота и цели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Вычисляем вектор от робота к цели: </a:t>
            </a:r>
            <a:r>
              <a:rPr lang="ru-RU" sz="2400" dirty="0" err="1">
                <a:solidFill>
                  <a:srgbClr val="10629C"/>
                </a:solidFill>
              </a:rPr>
              <a:t>dx</a:t>
            </a:r>
            <a:r>
              <a:rPr lang="ru-RU" sz="2400" dirty="0">
                <a:solidFill>
                  <a:srgbClr val="10629C"/>
                </a:solidFill>
              </a:rPr>
              <a:t>, </a:t>
            </a:r>
            <a:r>
              <a:rPr lang="ru-RU" sz="2400" dirty="0" err="1">
                <a:solidFill>
                  <a:srgbClr val="10629C"/>
                </a:solidFill>
              </a:rPr>
              <a:t>dy</a:t>
            </a:r>
            <a:endParaRPr lang="ru-RU" sz="2400" dirty="0">
              <a:solidFill>
                <a:srgbClr val="10629C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Угол направления альфа: α = atan2(</a:t>
            </a:r>
            <a:r>
              <a:rPr lang="ru-RU" sz="2400" dirty="0" err="1">
                <a:solidFill>
                  <a:srgbClr val="10629C"/>
                </a:solidFill>
              </a:rPr>
              <a:t>dy</a:t>
            </a:r>
            <a:r>
              <a:rPr lang="ru-RU" sz="2400" dirty="0">
                <a:solidFill>
                  <a:srgbClr val="10629C"/>
                </a:solidFill>
              </a:rPr>
              <a:t>, </a:t>
            </a:r>
            <a:r>
              <a:rPr lang="ru-RU" sz="2400" dirty="0" err="1">
                <a:solidFill>
                  <a:srgbClr val="10629C"/>
                </a:solidFill>
              </a:rPr>
              <a:t>dx</a:t>
            </a:r>
            <a:r>
              <a:rPr lang="ru-RU" sz="2400" dirty="0">
                <a:solidFill>
                  <a:srgbClr val="10629C"/>
                </a:solidFill>
              </a:rPr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Расстояние до цели: </a:t>
            </a:r>
            <a:r>
              <a:rPr lang="ru-RU" sz="2400" dirty="0" err="1">
                <a:solidFill>
                  <a:srgbClr val="10629C"/>
                </a:solidFill>
              </a:rPr>
              <a:t>sqrt</a:t>
            </a:r>
            <a:r>
              <a:rPr lang="ru-RU" sz="2400" dirty="0">
                <a:solidFill>
                  <a:srgbClr val="10629C"/>
                </a:solidFill>
              </a:rPr>
              <a:t>(dx² + dy²)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ПИД-регулятор корректирует скорость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0629C"/>
                </a:solidFill>
              </a:rPr>
              <a:t>Конечный вектор с добавлением времени </a:t>
            </a:r>
            <a:r>
              <a:rPr lang="ru-RU" sz="2400" dirty="0" err="1">
                <a:solidFill>
                  <a:srgbClr val="10629C"/>
                </a:solidFill>
              </a:rPr>
              <a:t>dt</a:t>
            </a:r>
            <a:r>
              <a:rPr lang="ru-RU" sz="2400" dirty="0">
                <a:solidFill>
                  <a:srgbClr val="10629C"/>
                </a:solidFill>
              </a:rPr>
              <a:t> симуляции подается на расчет колёсам</a:t>
            </a:r>
          </a:p>
        </p:txBody>
      </p:sp>
    </p:spTree>
    <p:extLst>
      <p:ext uri="{BB962C8B-B14F-4D97-AF65-F5344CB8AC3E}">
        <p14:creationId xmlns:p14="http://schemas.microsoft.com/office/powerpoint/2010/main" val="197413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9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846" y="884142"/>
            <a:ext cx="9887032" cy="570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586" y="995680"/>
            <a:ext cx="7878274" cy="5696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10</a:t>
            </a:r>
            <a:endParaRPr lang="ru-RU" sz="3200" b="1" dirty="0"/>
          </a:p>
        </p:txBody>
      </p:sp>
      <p:pic>
        <p:nvPicPr>
          <p:cNvPr id="3" name="Рисунок 2"/>
          <p:cNvPicPr/>
          <p:nvPr/>
        </p:nvPicPr>
        <p:blipFill>
          <a:blip r:embed="rId4"/>
          <a:stretch>
            <a:fillRect/>
          </a:stretch>
        </p:blipFill>
        <p:spPr>
          <a:xfrm>
            <a:off x="134076" y="2897697"/>
            <a:ext cx="4805045" cy="217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66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6961" y="899761"/>
            <a:ext cx="5939790" cy="2392045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369733" y="3338530"/>
            <a:ext cx="6365175" cy="311647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795" y="3842935"/>
            <a:ext cx="2981981" cy="286413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11</a:t>
            </a:r>
            <a:endParaRPr lang="ru-RU" sz="3200" b="1" dirty="0"/>
          </a:p>
        </p:txBody>
      </p:sp>
      <p:pic>
        <p:nvPicPr>
          <p:cNvPr id="3" name="Рисунок 2"/>
          <p:cNvPicPr/>
          <p:nvPr/>
        </p:nvPicPr>
        <p:blipFill>
          <a:blip r:embed="rId6"/>
          <a:stretch>
            <a:fillRect/>
          </a:stretch>
        </p:blipFill>
        <p:spPr>
          <a:xfrm>
            <a:off x="5996354" y="930867"/>
            <a:ext cx="6140187" cy="27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54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915" y="821931"/>
            <a:ext cx="8850094" cy="598885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134076" y="1703566"/>
            <a:ext cx="5993729" cy="31633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12</a:t>
            </a:r>
            <a:endParaRPr lang="ru-RU" sz="3200" b="1" dirty="0"/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34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4" name="Прямая соединительная линия 3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1</a:t>
            </a:r>
            <a:r>
              <a:rPr lang="ru-RU" sz="3200" b="1" dirty="0"/>
              <a:t>3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76224" y="1504950"/>
            <a:ext cx="5553075" cy="4650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sz="2400" b="1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Недостатки: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расхождение </a:t>
            </a:r>
            <a:r>
              <a:rPr lang="ru-RU" sz="2400" dirty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скоростей робота между симуляцией и реальностью, </a:t>
            </a:r>
            <a:endParaRPr lang="ru-RU" sz="2400" dirty="0" smtClean="0">
              <a:solidFill>
                <a:srgbClr val="10629C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</a:t>
            </a:r>
            <a:r>
              <a:rPr lang="ru-RU" sz="2400" dirty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100% точное </a:t>
            </a: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повторение </a:t>
            </a:r>
            <a:r>
              <a:rPr lang="ru-RU" sz="2400" dirty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траектории, </a:t>
            </a:r>
            <a:endParaRPr lang="ru-RU" sz="2400" dirty="0" smtClean="0">
              <a:solidFill>
                <a:srgbClr val="10629C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сложный </a:t>
            </a:r>
            <a:r>
              <a:rPr lang="ru-RU" sz="2400" dirty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подбор коэффициентов </a:t>
            </a:r>
            <a:r>
              <a:rPr lang="ru-RU" sz="2400" dirty="0" smtClean="0">
                <a:solidFill>
                  <a:srgbClr val="10629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вручную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299" y="1742206"/>
            <a:ext cx="6047321" cy="364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6" y="0"/>
            <a:ext cx="1013992" cy="995680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263846" y="853036"/>
            <a:ext cx="10514086" cy="0"/>
          </a:xfrm>
          <a:prstGeom prst="line">
            <a:avLst/>
          </a:prstGeom>
          <a:ln w="15875">
            <a:solidFill>
              <a:srgbClr val="0DA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263846" y="114045"/>
            <a:ext cx="10750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DA18F"/>
                </a:solidFill>
              </a:rPr>
              <a:t>Разработка программных средств для управления многоколёсным всенаправленным роботом и его имитационной моделью в среде </a:t>
            </a:r>
            <a:r>
              <a:rPr lang="en-US" sz="2000" b="1" dirty="0" err="1">
                <a:solidFill>
                  <a:srgbClr val="0DA18F"/>
                </a:solidFill>
              </a:rPr>
              <a:t>CoppeliaSim</a:t>
            </a:r>
            <a:endParaRPr lang="ru-RU" sz="2000" b="1" dirty="0">
              <a:solidFill>
                <a:srgbClr val="0DA18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63864" y="6273225"/>
            <a:ext cx="828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14</a:t>
            </a:r>
            <a:endParaRPr lang="ru-RU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506226" y="995680"/>
            <a:ext cx="6029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rgbClr val="10629C"/>
                </a:solidFill>
              </a:rPr>
              <a:t>Спасибо за внимание!</a:t>
            </a:r>
            <a:endParaRPr lang="ru-RU" sz="4000" b="1" dirty="0">
              <a:solidFill>
                <a:srgbClr val="10629C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398" y="1703566"/>
            <a:ext cx="3796852" cy="37968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4800" y="5425156"/>
            <a:ext cx="401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10629C"/>
                </a:solidFill>
              </a:rPr>
              <a:t>Ссылка на проект </a:t>
            </a:r>
            <a:r>
              <a:rPr lang="en-US" sz="2400" dirty="0" smtClean="0">
                <a:solidFill>
                  <a:srgbClr val="10629C"/>
                </a:solidFill>
              </a:rPr>
              <a:t>GitHub</a:t>
            </a:r>
            <a:endParaRPr lang="ru-RU" sz="2400" dirty="0">
              <a:solidFill>
                <a:srgbClr val="10629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1428" y="2444054"/>
            <a:ext cx="63695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10629C"/>
                </a:solidFill>
              </a:rPr>
              <a:t>Связь со мной:</a:t>
            </a:r>
            <a:endParaRPr lang="en-US" sz="3200" b="1" dirty="0" smtClean="0">
              <a:solidFill>
                <a:srgbClr val="10629C"/>
              </a:solidFill>
            </a:endParaRPr>
          </a:p>
          <a:p>
            <a:endParaRPr lang="ru-RU" sz="3200" b="1" dirty="0" smtClean="0">
              <a:solidFill>
                <a:srgbClr val="10629C"/>
              </a:solidFill>
            </a:endParaRPr>
          </a:p>
          <a:p>
            <a:r>
              <a:rPr lang="en-US" sz="3200" b="1" dirty="0" smtClean="0">
                <a:solidFill>
                  <a:srgbClr val="10629C"/>
                </a:solidFill>
              </a:rPr>
              <a:t>+7 961 752 79 14 (telegram </a:t>
            </a:r>
            <a:r>
              <a:rPr lang="ru-RU" sz="3200" b="1" dirty="0" smtClean="0">
                <a:solidFill>
                  <a:srgbClr val="10629C"/>
                </a:solidFill>
              </a:rPr>
              <a:t>и </a:t>
            </a:r>
            <a:r>
              <a:rPr lang="en-US" sz="3200" b="1" dirty="0" smtClean="0">
                <a:solidFill>
                  <a:srgbClr val="10629C"/>
                </a:solidFill>
              </a:rPr>
              <a:t>max)</a:t>
            </a:r>
          </a:p>
          <a:p>
            <a:endParaRPr lang="en-US" sz="3200" b="1" dirty="0" smtClean="0">
              <a:solidFill>
                <a:srgbClr val="10629C"/>
              </a:solidFill>
            </a:endParaRPr>
          </a:p>
          <a:p>
            <a:r>
              <a:rPr lang="en-US" sz="3200" b="1" dirty="0" smtClean="0">
                <a:solidFill>
                  <a:srgbClr val="10629C"/>
                </a:solidFill>
              </a:rPr>
              <a:t>artembrash@mail.ru</a:t>
            </a:r>
            <a:endParaRPr lang="ru-RU" sz="3200" b="1" dirty="0">
              <a:solidFill>
                <a:srgbClr val="1062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51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4465</TotalTime>
  <Words>448</Words>
  <Application>Microsoft Office PowerPoint</Application>
  <PresentationFormat>Широкоэкранный</PresentationFormat>
  <Paragraphs>87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Оля и Валера Самарины</dc:creator>
  <cp:lastModifiedBy>Брашовян Артём Игоревич</cp:lastModifiedBy>
  <cp:revision>221</cp:revision>
  <dcterms:created xsi:type="dcterms:W3CDTF">2021-04-01T13:37:08Z</dcterms:created>
  <dcterms:modified xsi:type="dcterms:W3CDTF">2026-06-18T05:33:37Z</dcterms:modified>
</cp:coreProperties>
</file>